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88720"/>
            <a:ext cx="10728655" cy="4572000"/>
          </a:xfrm>
          <a:prstGeom prst="rect">
            <a:avLst/>
          </a:prstGeom>
          <a:solidFill>
            <a:srgbClr val="0F223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1691640"/>
            <a:ext cx="3291840" cy="365760"/>
          </a:xfrm>
          <a:prstGeom prst="rect">
            <a:avLst/>
          </a:prstGeom>
          <a:solidFill>
            <a:srgbClr val="1A26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DEVOPS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4028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Helpdesk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Automated End-to-End Delivery, Security &amp; Monitoring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4297680"/>
            <a:ext cx="3108960" cy="96012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34340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CANDIDATE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Yashwardhan (Yashwardhan-ed)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297680"/>
            <a:ext cx="3108960" cy="96012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434340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REPOSITORY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github.com/Yashwardhan-ed/DevOps-Project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4297680"/>
            <a:ext cx="3383280" cy="96012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43434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TECH STACK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FastAPI • React 18 • Docker • GitHub Actions • Terraform • EKS • Helm • Prometheus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MODULE 1 &amp; 2 • 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Application Domain &amp; Core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5180990" cy="46634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2379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900">
                <a:solidFill>
                  <a:srgbClr val="38BDF8"/>
                </a:solidFill>
                <a:latin typeface="Segoe UI"/>
              </a:defRPr>
            </a:pPr>
            <a:r>
              <a:t>Helpdesk Support Platform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Core Functionality: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Operations ticket management system enabling engineering and IT teams to log, triage, assign, and resolve customer issues in real time.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Lifecycle States: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OPEN → IN_PROGRESS → RESOLVED → CLOSED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Priority Classification: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LOW • MEDIUM • HIGH • URGENT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Live Filter &amp; Search: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Instant title, description, and assignee query filtering with status counters.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Design System: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Modern YouTube Dark Theme (Black &amp; Blue palette, squarish cards, responsive layout).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DevOps Focus: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Minimal, clean application core designed for automated delivery, testing, and observability.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8270" y="1600200"/>
            <a:ext cx="5180990" cy="46634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6870" y="1783080"/>
            <a:ext cx="472379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900">
                <a:solidFill>
                  <a:srgbClr val="38BDF8"/>
                </a:solidFill>
                <a:latin typeface="Segoe UI"/>
              </a:defRPr>
            </a:pPr>
            <a:r>
              <a:t>Three-Tier Architecture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Frontend Tier: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React 18 SPA served via unprivileged Nginx reverse proxy (non-root appuser).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Backend Tier: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FastAPI async REST API with SQLAlchemy 2, running on Uvicorn (UID 10001).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Database Tier: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PostgreSQL 16 relational database with stateful storage and Alembic migrations.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Health &amp; Readiness: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/health (liveness check) and /ready (database connectivity probe).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Observability: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/metrics endpoint scraped by Prometheus Instrumentator.</a:t>
            </a:r>
          </a:p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• Test Coverage: 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10/10 passing pytest unit tests on isolated SQLite test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MODULE 3 • TOOLING ACROSS ALL 6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Comprehensive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3332073" cy="2148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37360"/>
            <a:ext cx="300288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8BDF8"/>
                </a:solidFill>
                <a:latin typeface="Segoe UI"/>
              </a:defRPr>
            </a:pPr>
            <a:r>
              <a:t>Application Layer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Python 3.12 &amp; FastAPI 0.116+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SQLAlchemy 2.0 &amp; Alembic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React 18 &amp; Vite SPA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PostgreSQL 16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9353" y="1600200"/>
            <a:ext cx="3332073" cy="2148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3945" y="1737360"/>
            <a:ext cx="300288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8BDF8"/>
                </a:solidFill>
                <a:latin typeface="Segoe UI"/>
              </a:defRPr>
            </a:pPr>
            <a:r>
              <a:t>Containers &amp; Runtime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Multi-stage Dockerfiles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Unprivileged appuser (UID 10001)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Docker Compose v2 stack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Named volume persistence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187" y="1600200"/>
            <a:ext cx="3332073" cy="2148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1779" y="1737360"/>
            <a:ext cx="300288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8BDF8"/>
                </a:solidFill>
                <a:latin typeface="Segoe UI"/>
              </a:defRPr>
            </a:pPr>
            <a:r>
              <a:t>CI/CD &amp; Security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GitHub Actions (3-job workflow)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GitHub Container Registry (GHCR)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Aqua Trivy security scanner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Git commit SHA image tagging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69080"/>
            <a:ext cx="3332073" cy="2148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06240"/>
            <a:ext cx="300288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8BDF8"/>
                </a:solidFill>
                <a:latin typeface="Segoe UI"/>
              </a:defRPr>
            </a:pPr>
            <a:r>
              <a:t>Infrastructure as Code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Terraform AWS Provider (v5)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AWS VPC (4 subnets + NAT)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AWS EKS v1.31 Control Plane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Managed EC2 node groups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9353" y="4069080"/>
            <a:ext cx="3332073" cy="2148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3945" y="4206240"/>
            <a:ext cx="300288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8BDF8"/>
                </a:solidFill>
                <a:latin typeface="Segoe UI"/>
              </a:defRPr>
            </a:pPr>
            <a:r>
              <a:t>Kubernetes &amp; Helm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Helm v3 parameterized chart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Namespace isolation (helpdesk)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Ingress routing (/ and /api)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Horizontal Pod Autoscaler (HPA)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187" y="4069080"/>
            <a:ext cx="3332073" cy="2148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1779" y="4206240"/>
            <a:ext cx="300288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38BDF8"/>
                </a:solidFill>
                <a:latin typeface="Segoe UI"/>
              </a:defRPr>
            </a:pPr>
            <a:r>
              <a:t>Observability &amp; Metrics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Prometheus FastAPI Instrumentator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CoreOS ServiceMonitor CRD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kube-prometheus-stack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Custom Grafana RED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MODULE 4 &amp; 8 • GIT TO CLOUD KUBERNETES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End-to-End System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874519" cy="105156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64208"/>
            <a:ext cx="1874519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Segoe UI"/>
              </a:defRPr>
            </a:pPr>
            <a:r>
              <a:t>Developer</a:t>
            </a:r>
          </a:p>
          <a:p>
            <a:pPr algn="ctr">
              <a:defRPr sz="1050">
                <a:solidFill>
                  <a:srgbClr val="38BDF8"/>
                </a:solidFill>
                <a:latin typeface="Segoe UI"/>
              </a:defRPr>
            </a:pPr>
            <a:r>
              <a:t>Local Git</a:t>
            </a:r>
            <a:br/>
            <a:r>
              <a:t>git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39" y="1920240"/>
            <a:ext cx="3383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00200"/>
            <a:ext cx="1874519" cy="105156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664208"/>
            <a:ext cx="1874519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Segoe UI"/>
              </a:defRPr>
            </a:pPr>
            <a:r>
              <a:t>GitHub Actions</a:t>
            </a:r>
          </a:p>
          <a:p>
            <a:pPr algn="ctr">
              <a:defRPr sz="1050">
                <a:solidFill>
                  <a:srgbClr val="38BDF8"/>
                </a:solidFill>
                <a:latin typeface="Segoe UI"/>
              </a:defRPr>
            </a:pPr>
            <a:r>
              <a:t>Test • Build</a:t>
            </a:r>
            <a:br/>
            <a:r>
              <a:t>Trivy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8887" y="1920240"/>
            <a:ext cx="3383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7216" y="1600200"/>
            <a:ext cx="1874519" cy="105156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7216" y="1664208"/>
            <a:ext cx="1874519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Segoe UI"/>
              </a:defRPr>
            </a:pPr>
            <a:r>
              <a:t>Aqua Trivy</a:t>
            </a:r>
          </a:p>
          <a:p>
            <a:pPr algn="ctr">
              <a:defRPr sz="1050">
                <a:solidFill>
                  <a:srgbClr val="38BDF8"/>
                </a:solidFill>
                <a:latin typeface="Segoe UI"/>
              </a:defRPr>
            </a:pPr>
            <a:r>
              <a:t>Security Gate</a:t>
            </a:r>
            <a:br/>
            <a:r>
              <a:t>0 High/Crit CVEs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1735" y="1920240"/>
            <a:ext cx="3383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1600200"/>
            <a:ext cx="1874519" cy="105156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664208"/>
            <a:ext cx="1874519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Segoe UI"/>
              </a:defRPr>
            </a:pPr>
            <a:r>
              <a:t>GHCR</a:t>
            </a:r>
          </a:p>
          <a:p>
            <a:pPr algn="ctr">
              <a:defRPr sz="1050">
                <a:solidFill>
                  <a:srgbClr val="38BDF8"/>
                </a:solidFill>
                <a:latin typeface="Segoe UI"/>
              </a:defRPr>
            </a:pPr>
            <a:r>
              <a:t>Registry</a:t>
            </a:r>
            <a:br/>
            <a:r>
              <a:t>Commit SHA 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3" y="1920240"/>
            <a:ext cx="3383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82912" y="1600200"/>
            <a:ext cx="1874519" cy="105156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1664208"/>
            <a:ext cx="1874519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Segoe UI"/>
              </a:defRPr>
            </a:pPr>
            <a:r>
              <a:t>AWS EKS / Helm</a:t>
            </a:r>
          </a:p>
          <a:p>
            <a:pPr algn="ctr">
              <a:defRPr sz="1050">
                <a:solidFill>
                  <a:srgbClr val="38BDF8"/>
                </a:solidFill>
                <a:latin typeface="Segoe UI"/>
              </a:defRPr>
            </a:pPr>
            <a:r>
              <a:t>Kubernetes</a:t>
            </a:r>
            <a:br/>
            <a:r>
              <a:t>Rolling Rollout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26080"/>
            <a:ext cx="5180990" cy="3291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63240"/>
            <a:ext cx="472379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700">
                <a:solidFill>
                  <a:srgbClr val="38BDF8"/>
                </a:solidFill>
                <a:latin typeface="Segoe UI"/>
              </a:defRPr>
            </a:pPr>
            <a:r>
              <a:t>Local Environment (Docker Compose)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Nginx Frontend: Reverse proxy on port 3001/3000 routing /api to backend.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FastAPI Backend: Uvicorn service exposing REST API on port 8000.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PostgreSQL 16: Container with persistent volume devopsprojects_postgres_data.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Network Isolation: Bridge network connecting services with internal DNS resolution.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270" y="2926080"/>
            <a:ext cx="5180990" cy="3291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6870" y="3063240"/>
            <a:ext cx="472379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700">
                <a:solidFill>
                  <a:srgbClr val="38BDF8"/>
                </a:solidFill>
                <a:latin typeface="Segoe UI"/>
              </a:defRPr>
            </a:pPr>
            <a:r>
              <a:t>Production Cloud (AWS VPC &amp; EKS)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AWS VPC (ap-south-1): 2 Public subnets for Ingress + 2 Private subnets for compute.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EKS Cluster v1.31: Managed Kubernetes with auto-scaling t3.small EC2 node groups.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Helm Deployment: Declarative chart managing pods, services, secrets, and HPA.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Observability Stack: kube-prometheus-stack scraping /metrics via ServiceMonitor CRD.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MODULE 5 • AUTOMATED 3-JOB DELIVERY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GitHub Actions CI/CD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3332073" cy="118872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305775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FFFFFF"/>
                </a:solidFill>
                <a:latin typeface="Segoe UI"/>
              </a:defRPr>
            </a:pPr>
            <a:r>
              <a:t>Job 1: Test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Pytest unit tests (10/10)</a:t>
            </a:r>
            <a:br/>
            <a:r>
              <a:t>React Vite build check</a:t>
            </a:r>
            <a:br/>
            <a:r>
              <a:t>Duration: ~25s • Isolated DB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9353" y="1600200"/>
            <a:ext cx="3332073" cy="118872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6513" y="1664208"/>
            <a:ext cx="305775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FFFFFF"/>
                </a:solidFill>
                <a:latin typeface="Segoe UI"/>
              </a:defRPr>
            </a:pPr>
            <a:r>
              <a:t>Job 2: Build &amp; Scan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Multi-stage Docker builds</a:t>
            </a:r>
            <a:br/>
            <a:r>
              <a:t>Aqua Trivy CVE gate</a:t>
            </a:r>
            <a:br/>
            <a:r>
              <a:t>Push images to GHCR (~1m 20s)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186" y="1600200"/>
            <a:ext cx="3332073" cy="118872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4346" y="1664208"/>
            <a:ext cx="305775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FFFFFF"/>
                </a:solidFill>
                <a:latin typeface="Segoe UI"/>
              </a:defRPr>
            </a:pPr>
            <a:r>
              <a:t>Job 3: Deploy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EKS cluster connectivity probe</a:t>
            </a:r>
            <a:br/>
            <a:r>
              <a:t>Helm release upgrade</a:t>
            </a:r>
            <a:br/>
            <a:r>
              <a:t>Live rollout verification (~10s)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5180990" cy="3291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472379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700">
                <a:solidFill>
                  <a:srgbClr val="38BDF8"/>
                </a:solidFill>
                <a:latin typeface="Segoe UI"/>
              </a:defRPr>
            </a:pPr>
            <a:r>
              <a:t>Automated Quality Gates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Pre-Commit Testing: 10 pytest test cases validating CRUD, stats, health, and readiness.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Zero-Tolerance Security: Aqua Trivy scans images; builds immediately fail on HIGH or CRITICAL CVEs.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Deterministic Enforcement: Defective or vulnerable code is rejected before reaching container registry.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Pipeline Status: 100% Green CI execution in GitHub Actions (Run ID: 38847560510).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270" y="3017520"/>
            <a:ext cx="5180990" cy="3291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6870" y="3200400"/>
            <a:ext cx="472379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700">
                <a:solidFill>
                  <a:srgbClr val="38BDF8"/>
                </a:solidFill>
                <a:latin typeface="Segoe UI"/>
              </a:defRPr>
            </a:pPr>
            <a:r>
              <a:t>Commit SHA Image Tagging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Complete Provenance: Every container running in Kubernetes maps directly to an immutable Git commit hash.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Eliminates ':latest' Drift: Guarantees identical, predictable container deployments across all cluster nodes.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Instant Rollbacks: Reverting to any past release requires only a Helm image tag update without rebuilding.</a:t>
            </a:r>
          </a:p>
          <a:p>
            <a:pPr>
              <a:spcAft>
                <a:spcPts val="4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• Published Artifacts: Images published to ghcr.io/yashwardhan-ed/devops-project-backend and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MODULE 6 • SHIFT-LEFT DEVSECOPS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Trivy Vulnerability Scanning &amp;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10728655" cy="54864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Shift-Left Security Gate: Trivy scans container images in CI; builds fail automatically on HIGH or CRITICAL CVEs.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5180990" cy="3931920"/>
          </a:xfrm>
          <a:prstGeom prst="rect">
            <a:avLst/>
          </a:prstGeom>
          <a:solidFill>
            <a:srgbClr val="131B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72379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87171"/>
                </a:solidFill>
                <a:latin typeface="Segoe UI"/>
              </a:defRPr>
            </a:pPr>
            <a:r>
              <a:t>Vulnerabilities Detected in CI</a:t>
            </a:r>
          </a:p>
          <a:p>
            <a:pPr>
              <a:defRPr b="1" sz="1300">
                <a:solidFill>
                  <a:srgbClr val="F87171"/>
                </a:solidFill>
                <a:latin typeface="Segoe UI"/>
              </a:defRPr>
            </a:pPr>
            <a:r>
              <a:t>• Starlette 0.41.3 (HIGH)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CVE-2025-62727: Range header DoS vulnerability</a:t>
            </a:r>
          </a:p>
          <a:p>
            <a:pPr>
              <a:defRPr b="1" sz="1300">
                <a:solidFill>
                  <a:srgbClr val="F87171"/>
                </a:solidFill>
                <a:latin typeface="Segoe UI"/>
              </a:defRPr>
            </a:pPr>
            <a:r>
              <a:t>• AnyIO 4.7.0 (CRITICAL)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CVE-2026-63374: TLS certificate domain spoofing flaw</a:t>
            </a:r>
          </a:p>
          <a:p>
            <a:pPr>
              <a:defRPr b="1" sz="1300">
                <a:solidFill>
                  <a:srgbClr val="F87171"/>
                </a:solidFill>
                <a:latin typeface="Segoe UI"/>
              </a:defRPr>
            </a:pPr>
            <a:r>
              <a:t>• Root Execution Risk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Default UID 0 execution susceptible to container breakout</a:t>
            </a:r>
          </a:p>
          <a:p>
            <a:pPr>
              <a:defRPr b="1" sz="1300">
                <a:solidFill>
                  <a:srgbClr val="F87171"/>
                </a:solidFill>
                <a:latin typeface="Segoe UI"/>
              </a:defRPr>
            </a:pPr>
            <a:r>
              <a:t>• Nginx Alpine Base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Scanned upstream packages for outdated OS libraries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270" y="2331720"/>
            <a:ext cx="5180990" cy="3931920"/>
          </a:xfrm>
          <a:prstGeom prst="rect">
            <a:avLst/>
          </a:prstGeom>
          <a:solidFill>
            <a:srgbClr val="13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6870" y="2514600"/>
            <a:ext cx="472379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34D399"/>
                </a:solidFill>
                <a:latin typeface="Segoe UI"/>
              </a:defRPr>
            </a:pPr>
            <a:r>
              <a:t>Engineering Fixes Applied</a:t>
            </a:r>
          </a:p>
          <a:p>
            <a:pPr>
              <a:defRPr b="1" sz="1300">
                <a:solidFill>
                  <a:srgbClr val="34D399"/>
                </a:solidFill>
                <a:latin typeface="Segoe UI"/>
              </a:defRPr>
            </a:pPr>
            <a:r>
              <a:t>✓ Upgraded AnyIO &gt;= 4.14.2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Eliminated CRITICAL TLS spoofing vulnerability</a:t>
            </a:r>
          </a:p>
          <a:p>
            <a:pPr>
              <a:defRPr b="1" sz="1300">
                <a:solidFill>
                  <a:srgbClr val="34D399"/>
                </a:solidFill>
                <a:latin typeface="Segoe UI"/>
              </a:defRPr>
            </a:pPr>
            <a:r>
              <a:t>✓ Upgraded Starlette &gt;= 0.49.1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Patched Range DoS; preserved Prometheus support</a:t>
            </a:r>
          </a:p>
          <a:p>
            <a:pPr>
              <a:defRPr b="1" sz="1300">
                <a:solidFill>
                  <a:srgbClr val="34D399"/>
                </a:solidFill>
                <a:latin typeface="Segoe UI"/>
              </a:defRPr>
            </a:pPr>
            <a:r>
              <a:t>✓ Non-Root Security Context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Enforced unprivileged appuser (UID 10001) in Dockerfile</a:t>
            </a:r>
          </a:p>
          <a:p>
            <a:pPr>
              <a:defRPr b="1" sz="1300">
                <a:solidFill>
                  <a:srgbClr val="34D399"/>
                </a:solidFill>
                <a:latin typeface="Segoe UI"/>
              </a:defRPr>
            </a:pPr>
            <a:r>
              <a:t>✓ Clean CI Verification Gate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0 HIGH / CRITICAL CVEs; pipeline green &amp; images pushed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MODULE 7 • INFRASTRUCTURE AS CODE ON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Terraform VPC &amp; EKS in ap-south-1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5180990" cy="46634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2379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38BDF8"/>
                </a:solidFill>
                <a:latin typeface="Segoe UI"/>
              </a:defRPr>
            </a:pPr>
            <a:r>
              <a:t>AWS Cloud Resources Provisioned</a:t>
            </a:r>
          </a:p>
          <a:p>
            <a:pPr>
              <a:defRPr b="1" sz="1300">
                <a:solidFill>
                  <a:srgbClr val="FFFFFF"/>
                </a:solidFill>
                <a:latin typeface="Segoe UI"/>
              </a:defRPr>
            </a:pPr>
            <a:r>
              <a:t>• VPC &amp; CIDR: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Dedicated 10.20.0.0/16 VPC in AWS ap-south-1 (Mumbai).</a:t>
            </a:r>
          </a:p>
          <a:p>
            <a:pPr>
              <a:defRPr b="1" sz="1300">
                <a:solidFill>
                  <a:srgbClr val="FFFFFF"/>
                </a:solidFill>
                <a:latin typeface="Segoe UI"/>
              </a:defRPr>
            </a:pPr>
            <a:r>
              <a:t>• Subnet Isolation: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2 Public subnets (Ingress/NAT) + 2 Private subnets (Compute).</a:t>
            </a:r>
          </a:p>
          <a:p>
            <a:pPr>
              <a:defRPr b="1" sz="1300">
                <a:solidFill>
                  <a:srgbClr val="FFFFFF"/>
                </a:solidFill>
                <a:latin typeface="Segoe UI"/>
              </a:defRPr>
            </a:pPr>
            <a:r>
              <a:t>• NAT Gateway: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Outbound internet egress for private nodes without public exposure.</a:t>
            </a:r>
          </a:p>
          <a:p>
            <a:pPr>
              <a:defRPr b="1" sz="1300">
                <a:solidFill>
                  <a:srgbClr val="FFFFFF"/>
                </a:solidFill>
                <a:latin typeface="Segoe UI"/>
              </a:defRPr>
            </a:pPr>
            <a:r>
              <a:t>• EKS Cluster v1.31: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Managed Kubernetes control plane (helpdesk-eks).</a:t>
            </a:r>
          </a:p>
          <a:p>
            <a:pPr>
              <a:defRPr b="1" sz="1300">
                <a:solidFill>
                  <a:srgbClr val="FFFFFF"/>
                </a:solidFill>
                <a:latin typeface="Segoe UI"/>
              </a:defRPr>
            </a:pPr>
            <a:r>
              <a:t>• Worker Node Group: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Auto-scaling group of t3.small EC2 instances (2 to 4 nodes).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8270" y="1600200"/>
            <a:ext cx="5180990" cy="46634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6870" y="1783080"/>
            <a:ext cx="472379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38BDF8"/>
                </a:solidFill>
                <a:latin typeface="Segoe UI"/>
              </a:defRPr>
            </a:pPr>
            <a:r>
              <a:t>Terraform Workflow &amp; Best Practices</a:t>
            </a:r>
          </a:p>
          <a:p>
            <a:pPr>
              <a:defRPr b="1" sz="1300">
                <a:solidFill>
                  <a:srgbClr val="FFFFFF"/>
                </a:solidFill>
                <a:latin typeface="Segoe UI"/>
              </a:defRPr>
            </a:pPr>
            <a:r>
              <a:t>• Automated Lifecycle: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Standard init → plan → apply → destroy execution flow.</a:t>
            </a:r>
          </a:p>
          <a:p>
            <a:pPr>
              <a:defRPr b="1" sz="1300">
                <a:solidFill>
                  <a:srgbClr val="FFFFFF"/>
                </a:solidFill>
                <a:latin typeface="Segoe UI"/>
              </a:defRPr>
            </a:pPr>
            <a:r>
              <a:t>• Zero Committed Secrets: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*.tfstate and *.tfvars strictly excluded via .gitignore.</a:t>
            </a:r>
          </a:p>
          <a:p>
            <a:pPr>
              <a:defRPr b="1" sz="1300">
                <a:solidFill>
                  <a:srgbClr val="FFFFFF"/>
                </a:solidFill>
                <a:latin typeface="Segoe UI"/>
              </a:defRPr>
            </a:pPr>
            <a:r>
              <a:t>• Template Hygiene: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Credentials-free terraform.tfvars.example committed for operators.</a:t>
            </a:r>
          </a:p>
          <a:p>
            <a:pPr>
              <a:defRPr b="1" sz="1300">
                <a:solidFill>
                  <a:srgbClr val="FFFFFF"/>
                </a:solidFill>
                <a:latin typeface="Segoe UI"/>
              </a:defRPr>
            </a:pPr>
            <a:r>
              <a:t>• Cost-Safe Teardown: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   1-command terraform destroy eliminates orphan cloud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MODULE 8 • ORCHESTRATION, HELM CHART &amp; HPA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Kubernetes, Helm &amp; Autoscaling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3332073" cy="46634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83080"/>
            <a:ext cx="300288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8BDF8"/>
                </a:solidFill>
                <a:latin typeface="Segoe UI"/>
              </a:defRPr>
            </a:pPr>
            <a:r>
              <a:t>Helm Chart (helpdesk)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Parameterized Chart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Standardized v1.0.0 Helm package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Templates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Deployments, Services, Ingress, HPA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Multi-Environment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values.yaml and values-dev.yaml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1-Command Deploy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helm upgrade --install helpdesk 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9353" y="1600200"/>
            <a:ext cx="3332073" cy="46634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3945" y="1783080"/>
            <a:ext cx="300288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8BDF8"/>
                </a:solidFill>
                <a:latin typeface="Segoe UI"/>
              </a:defRPr>
            </a:pPr>
            <a:r>
              <a:t>Networking &amp; Ingress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Single Entrypoint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helpdesk.local domain routing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Frontend Path /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Routes to React Nginx on port 80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Backend Path /api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Routes to FastAPI Uvicorn on 8000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DNS Aliases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ClusterIP services for backend &amp; postgres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187" y="1600200"/>
            <a:ext cx="3332073" cy="46634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1779" y="1783080"/>
            <a:ext cx="300288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8BDF8"/>
                </a:solidFill>
                <a:latin typeface="Segoe UI"/>
              </a:defRPr>
            </a:pPr>
            <a:r>
              <a:t>Autoscaling (HPA)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Scaling Threshold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60% target CPU utilization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Replica Range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2 minimum to 6 maximum pods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Stress Tested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Verified with 1,000 concurrent requests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Zero Downtime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Rolling updates with maxSurge=1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MODULE 9 • OBSERVABILITY &amp; RED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Prometheus Metrics &amp; Grafana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2423160" cy="105156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64208"/>
            <a:ext cx="242316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Segoe UI"/>
              </a:defRPr>
            </a:pPr>
            <a:r>
              <a:t>FastAPI Backend</a:t>
            </a:r>
          </a:p>
          <a:p>
            <a:pPr algn="ctr">
              <a:defRPr sz="1050">
                <a:solidFill>
                  <a:srgbClr val="38BDF8"/>
                </a:solidFill>
                <a:latin typeface="Segoe UI"/>
              </a:defRPr>
            </a:pPr>
            <a:r>
              <a:t>Exposes /metrics endpoint</a:t>
            </a:r>
            <a:br/>
            <a:r>
              <a:t>Prometheus Instrumentator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920240"/>
            <a:ext cx="356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514953" y="1600200"/>
            <a:ext cx="2423160" cy="105156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4953" y="1664208"/>
            <a:ext cx="242316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Segoe UI"/>
              </a:defRPr>
            </a:pPr>
            <a:r>
              <a:t>ServiceMonitor</a:t>
            </a:r>
          </a:p>
          <a:p>
            <a:pPr algn="ctr">
              <a:defRPr sz="1050">
                <a:solidFill>
                  <a:srgbClr val="38BDF8"/>
                </a:solidFill>
                <a:latin typeface="Segoe UI"/>
              </a:defRPr>
            </a:pPr>
            <a:r>
              <a:t>Kubernetes CRD selector</a:t>
            </a:r>
            <a:br/>
            <a:r>
              <a:t>app: helpdesk-backend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8113" y="1920240"/>
            <a:ext cx="356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8386" y="1600200"/>
            <a:ext cx="2423160" cy="105156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8386" y="1664208"/>
            <a:ext cx="242316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Segoe UI"/>
              </a:defRPr>
            </a:pPr>
            <a:r>
              <a:t>Prometheus</a:t>
            </a:r>
          </a:p>
          <a:p>
            <a:pPr algn="ctr">
              <a:defRPr sz="1050">
                <a:solidFill>
                  <a:srgbClr val="38BDF8"/>
                </a:solidFill>
                <a:latin typeface="Segoe UI"/>
              </a:defRPr>
            </a:pPr>
            <a:r>
              <a:t>15s scrape interval</a:t>
            </a:r>
            <a:br/>
            <a:r>
              <a:t>7-day time series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1546" y="1920240"/>
            <a:ext cx="356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81819" y="1600200"/>
            <a:ext cx="2423160" cy="1051560"/>
          </a:xfrm>
          <a:prstGeom prst="rect">
            <a:avLst/>
          </a:prstGeom>
          <a:solidFill>
            <a:srgbClr val="0F22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1819" y="1664208"/>
            <a:ext cx="242316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  <a:latin typeface="Segoe UI"/>
              </a:defRPr>
            </a:pPr>
            <a:r>
              <a:t>Grafana UI</a:t>
            </a:r>
          </a:p>
          <a:p>
            <a:pPr algn="ctr">
              <a:defRPr sz="1050">
                <a:solidFill>
                  <a:srgbClr val="38BDF8"/>
                </a:solidFill>
                <a:latin typeface="Segoe UI"/>
              </a:defRPr>
            </a:pPr>
            <a:r>
              <a:t>RED metrics dashboard</a:t>
            </a:r>
            <a:br/>
            <a:r>
              <a:t>Auto-provisioned datasource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10728655" cy="333756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108960"/>
            <a:ext cx="1027145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38BDF8"/>
                </a:solidFill>
                <a:latin typeface="Segoe UI"/>
              </a:defRPr>
            </a:pPr>
            <a:r>
              <a:t>RED Metrics Monitored in Grafana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Rate (Throughput):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Query: rate(http_requests_total[1m])  |  Measures requests per second across all API endpoints.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Errors (Reliability):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Query: rate(http_requests_total{status=~"5.."}[1m])  |  Immediate visual indicator for 5xx unhandled exceptions.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Duration (Latency):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Query: histogram_quantile(0.95, rate(...))  |  p95 latency monitoring ensuring API responses complete in &lt;50ms.</a:t>
            </a:r>
          </a:p>
          <a:p>
            <a:pPr>
              <a:defRPr b="1" sz="1250">
                <a:solidFill>
                  <a:srgbClr val="FFFFFF"/>
                </a:solidFill>
                <a:latin typeface="Segoe UI"/>
              </a:defRPr>
            </a:pPr>
            <a:r>
              <a:t>• Replica Health: 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   Query: Scrapes all active pods  |  Discovers healthy backend endpoints dynamically via Kubernetes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MODULE 10 • POST-IMPLEMENTATION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Engineering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5180990" cy="2148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81523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  <a:latin typeface="Segoe UI"/>
              </a:defRPr>
            </a:pPr>
            <a:r>
              <a:t>Automated Quality Gates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Pre-commit pytest unit tests and Aqua Trivy container scans stop broken builds and zero-day vulnerabilities before registry publishing.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8270" y="1600200"/>
            <a:ext cx="5180990" cy="2148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1150" y="1764792"/>
            <a:ext cx="481523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  <a:latin typeface="Segoe UI"/>
              </a:defRPr>
            </a:pPr>
            <a:r>
              <a:t>Immutable Commit SHA Tagging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Pinning container tags to Git commit hashes ensures 100% provenance, prevents ':latest' drift, and enables instant rollbacks.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5180990" cy="2148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33672"/>
            <a:ext cx="481523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  <a:latin typeface="Segoe UI"/>
              </a:defRPr>
            </a:pPr>
            <a:r>
              <a:t>Controlled UI State Management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Replaced fragile synthetic event calls with controlled React state, eliminating async unmount exceptions and ensuring smooth updates.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270" y="4069080"/>
            <a:ext cx="5180990" cy="2148840"/>
          </a:xfrm>
          <a:prstGeom prst="rect">
            <a:avLst/>
          </a:prstGeom>
          <a:solidFill>
            <a:srgbClr val="131B2A"/>
          </a:solidFill>
          <a:ln w="12700">
            <a:solidFill>
              <a:srgbClr val="2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150" y="4233672"/>
            <a:ext cx="481523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  <a:latin typeface="Segoe UI"/>
              </a:defRPr>
            </a:pPr>
            <a:r>
              <a:t>Cross-Environment DNS Aliases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Configured dual Kubernetes service names (helpdesk-backend and backend alias) to ensure seamless Nginx routing across Compose and K8s.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